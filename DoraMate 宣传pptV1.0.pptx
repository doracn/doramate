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9.svg" ContentType="image/svg+xml"/>
  <Override PartName="/ppt/media/image41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embeddedFontLst>
    <p:embeddedFont>
      <p:font typeface="Roboto Slab" pitchFamily="34" charset="0"/>
      <p:bold r:id="rId16"/>
    </p:embeddedFont>
    <p:embeddedFont>
      <p:font typeface="Roboto Slab" pitchFamily="34" charset="-122"/>
      <p:bold r:id="rId17"/>
    </p:embeddedFont>
    <p:embeddedFont>
      <p:font typeface="Roboto Slab" pitchFamily="34" charset="-120"/>
      <p:bold r:id="rId18"/>
    </p:embeddedFont>
    <p:embeddedFont>
      <p:font typeface="Roboto" panose="02000000000000000000" pitchFamily="34" charset="0"/>
      <p:regular r:id="rId19"/>
    </p:embeddedFont>
    <p:embeddedFont>
      <p:font typeface="Roboto" panose="02000000000000000000" pitchFamily="34" charset="-122"/>
      <p:regular r:id="rId20"/>
    </p:embeddedFont>
    <p:embeddedFont>
      <p:font typeface="Roboto" panose="02000000000000000000" pitchFamily="34" charset="-12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6A8E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6A8E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6A8E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hyperlink" Target="https://github.com/DoraCN/DoraMate" TargetMode="Externa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2.sv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image" Target="../media/image42.png"/><Relationship Id="rId7" Type="http://schemas.openxmlformats.org/officeDocument/2006/relationships/hyperlink" Target="https://github.com/DoraCN/DoraMate" TargetMode="Externa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>
              <a:alpha val="80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793790" y="1892022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DoraMate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691527"/>
            <a:ext cx="8633103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— 面向具身智能开发者的可视化低代码平台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3598664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用拖拽代替手写 YAML，用可视化取代枯燥配置。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21671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DoraMate 基于 Rust 全栈 + WebAssembly，让每一位开发者都能快速构建高性能具身智能数据流。</a:t>
            </a:r>
            <a:endParaRPr lang="en-US" sz="1750" dirty="0"/>
          </a:p>
        </p:txBody>
      </p:sp>
      <p:pic>
        <p:nvPicPr>
          <p:cNvPr id="8" name="Image 1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834771"/>
            <a:ext cx="1360527" cy="623768"/>
          </a:xfrm>
          <a:prstGeom prst="rect">
            <a:avLst/>
          </a:prstGeom>
        </p:spPr>
      </p:pic>
      <p:pic>
        <p:nvPicPr>
          <p:cNvPr id="9" name="Image 2" descr="preencoded.png">
            <a:hlinkClick r:id="rId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713690"/>
            <a:ext cx="1360527" cy="623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32" y="627340"/>
            <a:ext cx="1265158" cy="424101"/>
          </a:xfrm>
          <a:prstGeom prst="roundRect">
            <a:avLst>
              <a:gd name="adj" fmla="val 6394"/>
            </a:avLst>
          </a:prstGeom>
          <a:solidFill>
            <a:srgbClr val="082545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6425" y="749022"/>
            <a:ext cx="180737" cy="180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7531" y="695087"/>
            <a:ext cx="723067" cy="2886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痛点洞察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0932" y="1141452"/>
            <a:ext cx="9649658" cy="706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为什么 DORA 开发者需要 DoraMate？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90932" y="2185273"/>
            <a:ext cx="13048536" cy="360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DORA 框架性能卓越，相比 ROS2 提升 10–17 倍，但其陡峭的使用门槛阻碍了更多开发者入场。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293" y="2799398"/>
            <a:ext cx="6573917" cy="4802862"/>
          </a:xfrm>
          <a:prstGeom prst="roundRect">
            <a:avLst>
              <a:gd name="adj" fmla="val 706"/>
            </a:avLst>
          </a:prstGeom>
          <a:solidFill>
            <a:srgbClr val="66A8EE"/>
          </a:solidFill>
        </p:spPr>
      </p:sp>
      <p:sp>
        <p:nvSpPr>
          <p:cNvPr id="8" name="Text 5"/>
          <p:cNvSpPr/>
          <p:nvPr/>
        </p:nvSpPr>
        <p:spPr>
          <a:xfrm>
            <a:off x="854273" y="3024545"/>
            <a:ext cx="2824877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DORA 的核心优势</a:t>
            </a:r>
            <a:endParaRPr lang="en-US" sz="2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27" y="3637836"/>
            <a:ext cx="338971" cy="3389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88651" y="3630930"/>
            <a:ext cx="2824877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极致性能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588651" y="4209217"/>
            <a:ext cx="5387578" cy="360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相比 ROS2 提升 10–17x，Apache Arrow 零拷贝通信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27" y="5027295"/>
            <a:ext cx="338971" cy="3389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88651" y="5020389"/>
            <a:ext cx="2824877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多语言支持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88651" y="5598676"/>
            <a:ext cx="5387578" cy="360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Python、Rust、C、C++、C# 全覆盖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27" y="6416754"/>
            <a:ext cx="338971" cy="33897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88651" y="6409849"/>
            <a:ext cx="2824877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2025 生态爆发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1588651" y="6988135"/>
            <a:ext cx="5387578" cy="360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新增 Qwen2.5、SAM2、Phi4 等大量 AI 模型节点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7598450" y="3024545"/>
            <a:ext cx="2824877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当前开发者的困境</a:t>
            </a:r>
            <a:endParaRPr lang="en-US" sz="2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3103" y="3637836"/>
            <a:ext cx="338971" cy="33897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32827" y="3630930"/>
            <a:ext cx="2824877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手写 YAML 配置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8332827" y="4209217"/>
            <a:ext cx="5514261" cy="360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繁琐易错，维护成本极高</a:t>
            </a:r>
            <a:endParaRPr lang="en-US" sz="17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3103" y="5027295"/>
            <a:ext cx="338971" cy="33897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332827" y="5020389"/>
            <a:ext cx="2824877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连接关系不直观</a:t>
            </a:r>
            <a:endParaRPr lang="en-US" sz="2200" dirty="0"/>
          </a:p>
        </p:txBody>
      </p:sp>
      <p:sp>
        <p:nvSpPr>
          <p:cNvPr id="24" name="Text 16"/>
          <p:cNvSpPr/>
          <p:nvPr/>
        </p:nvSpPr>
        <p:spPr>
          <a:xfrm>
            <a:off x="8332827" y="5598676"/>
            <a:ext cx="5514261" cy="360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节点间依赖难以可视化理解</a:t>
            </a:r>
            <a:endParaRPr lang="en-US" sz="17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3103" y="6416754"/>
            <a:ext cx="338971" cy="33897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332827" y="6409849"/>
            <a:ext cx="2824877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缺少调试工具</a:t>
            </a:r>
            <a:endParaRPr lang="en-US" sz="2200" dirty="0"/>
          </a:p>
        </p:txBody>
      </p:sp>
      <p:sp>
        <p:nvSpPr>
          <p:cNvPr id="27" name="Text 18"/>
          <p:cNvSpPr/>
          <p:nvPr/>
        </p:nvSpPr>
        <p:spPr>
          <a:xfrm>
            <a:off x="8332827" y="6988135"/>
            <a:ext cx="5514261" cy="360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运行时报错，排查效率低下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465" y="730568"/>
            <a:ext cx="860108" cy="357545"/>
          </a:xfrm>
          <a:prstGeom prst="roundRect">
            <a:avLst>
              <a:gd name="adj" fmla="val 6449"/>
            </a:avLst>
          </a:prstGeom>
          <a:noFill/>
          <a:ln w="7620">
            <a:solidFill>
              <a:srgbClr val="66A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95338" y="795814"/>
            <a:ext cx="614363" cy="2270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2465" y="1153120"/>
            <a:ext cx="4803338" cy="6003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DoraMate 是什么？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672465" y="1997512"/>
            <a:ext cx="7799070" cy="567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DoraMate 是一个</a:t>
            </a:r>
            <a:r>
              <a:rPr lang="en-US" sz="15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可视化低代码平台</a:t>
            </a:r>
            <a:r>
              <a:rPr lang="en-US" sz="15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，将 DORA 数据流的构建过程转化为直观的拖拽式操作。无需手写配置，5 分钟内即可创建第一个数据流。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2465" y="2748201"/>
            <a:ext cx="7799070" cy="1065728"/>
          </a:xfrm>
          <a:prstGeom prst="roundRect">
            <a:avLst>
              <a:gd name="adj" fmla="val 2704"/>
            </a:avLst>
          </a:prstGeom>
          <a:solidFill>
            <a:srgbClr val="3F4652"/>
          </a:solidFill>
        </p:spPr>
      </p:sp>
      <p:sp>
        <p:nvSpPr>
          <p:cNvPr id="8" name="Text 5"/>
          <p:cNvSpPr/>
          <p:nvPr/>
        </p:nvSpPr>
        <p:spPr>
          <a:xfrm>
            <a:off x="864513" y="2940248"/>
            <a:ext cx="2401610" cy="300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降低技术门槛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4513" y="3338036"/>
            <a:ext cx="7414974" cy="283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拖拽式节点编排，实时预览数据流，无需手写 YAML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2465" y="3976568"/>
            <a:ext cx="7799070" cy="1065728"/>
          </a:xfrm>
          <a:prstGeom prst="roundRect">
            <a:avLst>
              <a:gd name="adj" fmla="val 2704"/>
            </a:avLst>
          </a:prstGeom>
          <a:solidFill>
            <a:srgbClr val="3F4652"/>
          </a:solidFill>
        </p:spPr>
      </p:sp>
      <p:sp>
        <p:nvSpPr>
          <p:cNvPr id="11" name="Text 8"/>
          <p:cNvSpPr/>
          <p:nvPr/>
        </p:nvSpPr>
        <p:spPr>
          <a:xfrm>
            <a:off x="864513" y="4168616"/>
            <a:ext cx="2401610" cy="300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提升开发效率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64513" y="4566404"/>
            <a:ext cx="7414974" cy="283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可视化节点库，自动生成 YAML，一键运行数据流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2465" y="5204936"/>
            <a:ext cx="7799070" cy="1065728"/>
          </a:xfrm>
          <a:prstGeom prst="roundRect">
            <a:avLst>
              <a:gd name="adj" fmla="val 2704"/>
            </a:avLst>
          </a:prstGeom>
          <a:solidFill>
            <a:srgbClr val="3F4652"/>
          </a:solidFill>
        </p:spPr>
      </p:sp>
      <p:sp>
        <p:nvSpPr>
          <p:cNvPr id="14" name="Text 11"/>
          <p:cNvSpPr/>
          <p:nvPr/>
        </p:nvSpPr>
        <p:spPr>
          <a:xfrm>
            <a:off x="864513" y="5396984"/>
            <a:ext cx="2401610" cy="300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增强可维护性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64513" y="5794772"/>
            <a:ext cx="7414974" cy="283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清晰拓扑图，版本控制集成，节点复用机制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72465" y="6433304"/>
            <a:ext cx="7799070" cy="1065728"/>
          </a:xfrm>
          <a:prstGeom prst="roundRect">
            <a:avLst>
              <a:gd name="adj" fmla="val 2704"/>
            </a:avLst>
          </a:prstGeom>
          <a:solidFill>
            <a:srgbClr val="3F4652"/>
          </a:solidFill>
        </p:spPr>
      </p:sp>
      <p:sp>
        <p:nvSpPr>
          <p:cNvPr id="17" name="Text 14"/>
          <p:cNvSpPr/>
          <p:nvPr/>
        </p:nvSpPr>
        <p:spPr>
          <a:xfrm>
            <a:off x="864513" y="6625352"/>
            <a:ext cx="2401610" cy="300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保留技术深度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864513" y="7023140"/>
            <a:ext cx="7414974" cy="283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完全兼容 DORA 生态，支持导出标准 YAML，可扩展自定义节点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06059"/>
            <a:ext cx="6043732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</p:spPr>
      </p:sp>
      <p:sp>
        <p:nvSpPr>
          <p:cNvPr id="3" name="Text 1"/>
          <p:cNvSpPr/>
          <p:nvPr/>
        </p:nvSpPr>
        <p:spPr>
          <a:xfrm>
            <a:off x="929878" y="1874044"/>
            <a:ext cx="5771555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核心功能                                                                                        核心功能全览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487454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05507"/>
            <a:ext cx="1767840" cy="1092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48151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可视化节点编辑器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971931"/>
            <a:ext cx="3048000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拖拽添加节点、自由布局连线、属性面板编辑配置，工具栏支持导入、导出、运行与验证。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105507"/>
            <a:ext cx="1767840" cy="1092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25278" y="448151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YAML 导入导出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125278" y="4971931"/>
            <a:ext cx="304811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自动解析 YAML 文件，智能布局节点拓扑，可视化展示数据流，一键导出优化后的配置。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105507"/>
            <a:ext cx="1767840" cy="1092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56884" y="448151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本地执行集成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456884" y="4971931"/>
            <a:ext cx="3048119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Axum + Tokio 本地代理，调用 dora-cli 运行数据流，WebSocket 实时日志监控与节点状态追踪。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105507"/>
            <a:ext cx="1767840" cy="1092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8491" y="448151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文件系统管理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0788491" y="4971931"/>
            <a:ext cx="304811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纯文件系统架构，支持打开/保存 YAML、最近文件列表、文件夹浏览与自动备份。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5772" y="493395"/>
            <a:ext cx="956786" cy="294323"/>
          </a:xfrm>
          <a:prstGeom prst="roundRect">
            <a:avLst>
              <a:gd name="adj" fmla="val 6972"/>
            </a:avLst>
          </a:prstGeom>
          <a:solidFill>
            <a:srgbClr val="D1E5FA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8285" y="572214"/>
            <a:ext cx="136684" cy="136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3311" y="544592"/>
            <a:ext cx="546735" cy="191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技术架构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5772" y="839272"/>
            <a:ext cx="5416868" cy="5342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全栈 Rust — 工业级技术底座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1415772" y="1566863"/>
            <a:ext cx="11798737" cy="2397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从前端 WebAssembly 到后端 Axum 代理，DoraMate 采用统一的 Rust 技术栈，实现零 GC 停顿、内存安全与极致性能。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772" y="1951673"/>
            <a:ext cx="11798737" cy="53996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379" y="2668302"/>
            <a:ext cx="2609987" cy="3262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存储层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10058379" y="3087350"/>
            <a:ext cx="2876785" cy="4574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本地文件 ~/.doramate/，YAML 数据流，DORA 集成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729623" y="4443093"/>
            <a:ext cx="2609986" cy="3262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后端层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1694823" y="4862140"/>
            <a:ext cx="2644786" cy="4574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Axum 1.0 本地代理，REST + WebSocket，tokio::process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058379" y="5359488"/>
            <a:ext cx="2609987" cy="3262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前端层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10058379" y="5778536"/>
            <a:ext cx="2876785" cy="4574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Leptos 0.7 + WebAssembly，SVG/Canvas 节点编辑器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15772" y="7496294"/>
            <a:ext cx="11798737" cy="2397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三层架构清晰分离关注点：前端负责可视化交互，后端代理负责进程调度与实时通信，文件系统作为零依赖的持久化层，彻底消除数据库配置复杂度。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81188"/>
            <a:ext cx="1284923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66A8E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2011204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1956792"/>
            <a:ext cx="725329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技术优势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413397"/>
            <a:ext cx="946451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为什么选择 Rust 全栈 + 纯文件系统？</a:t>
            </a:r>
            <a:endParaRPr lang="en-US" sz="4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46233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4253" y="346233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工业级稳定性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644253" y="3952756"/>
            <a:ext cx="552914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无 GC 停顿，确定性内存管理，可连续运行 7×24 数年无故障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46233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07348" y="346233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极致性能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307348" y="3952756"/>
            <a:ext cx="552926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WebAssembly 原生支持，Leptos 细粒度响应式更新，媲美原生应用体验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13218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513218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零配置部署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5622607"/>
            <a:ext cx="552914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纯文件系统架构，无需数据库安装，零依赖，开箱即用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132189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07348" y="513218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长期战略价值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8307348" y="5622607"/>
            <a:ext cx="552926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构建可复用 UI 组件库，为 ERP/MES/PLC 工业系统迁移奠定基础，投资回报率 10 倍以上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1033939"/>
            <a:ext cx="498515" cy="176689"/>
          </a:xfrm>
          <a:prstGeom prst="roundRect">
            <a:avLst>
              <a:gd name="adj" fmla="val 7703"/>
            </a:avLst>
          </a:prstGeom>
          <a:solidFill>
            <a:srgbClr val="D1E5FA"/>
          </a:solidFill>
        </p:spPr>
      </p:sp>
      <p:sp>
        <p:nvSpPr>
          <p:cNvPr id="3" name="Text 1"/>
          <p:cNvSpPr/>
          <p:nvPr/>
        </p:nvSpPr>
        <p:spPr>
          <a:xfrm>
            <a:off x="3470434" y="1067872"/>
            <a:ext cx="362545" cy="1088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效率对比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02449" y="1233249"/>
            <a:ext cx="380023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DoraMate vs 传统 DORA 开发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02449" y="1672590"/>
            <a:ext cx="7825502" cy="136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同样的开发任务，DoraMate 从根本上重塑了每个关键环节的效率。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02449" y="1929051"/>
            <a:ext cx="1903214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5x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3645218" y="2402443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数据流创建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02449" y="2613541"/>
            <a:ext cx="1903214" cy="136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拖拽节点 vs 手写 YAML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76505" y="1929051"/>
            <a:ext cx="1903214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10x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619274" y="2402443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节点连接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76505" y="2613541"/>
            <a:ext cx="1903214" cy="136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自动连线 vs 手动配置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50562" y="1929051"/>
            <a:ext cx="1903214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3x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593330" y="2402443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错误排查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50562" y="2613541"/>
            <a:ext cx="1903214" cy="136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实时验证 vs 运行时报错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324618" y="1929051"/>
            <a:ext cx="1903333" cy="374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-70%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9567505" y="2402443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学习曲线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4618" y="2613541"/>
            <a:ext cx="1903333" cy="136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5 分钟上手 vs 陡峭学习路径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02449" y="2813328"/>
            <a:ext cx="912413" cy="222351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528" y="2862721"/>
            <a:ext cx="123564" cy="12356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639281" y="2844219"/>
            <a:ext cx="603502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传统 DORA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4397239" y="2813328"/>
            <a:ext cx="849826" cy="222351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317" y="2862721"/>
            <a:ext cx="123564" cy="1235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634070" y="2844219"/>
            <a:ext cx="540916" cy="1605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DoraMate</a:t>
            </a:r>
            <a:endParaRPr lang="en-US" sz="7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3138649"/>
            <a:ext cx="7825740" cy="4118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7125"/>
            <a:ext cx="1269683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</p:spPr>
      </p:sp>
      <p:sp>
        <p:nvSpPr>
          <p:cNvPr id="3" name="Text 1"/>
          <p:cNvSpPr/>
          <p:nvPr/>
        </p:nvSpPr>
        <p:spPr>
          <a:xfrm>
            <a:off x="1202055" y="875109"/>
            <a:ext cx="725329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适用人群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24094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谁在使用 DoraMate？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373035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270" y="2403515"/>
            <a:ext cx="6346984" cy="680442"/>
          </a:xfrm>
          <a:prstGeom prst="rect">
            <a:avLst/>
          </a:prstGeom>
          <a:solidFill>
            <a:srgbClr val="3F4652"/>
          </a:solidFill>
        </p:spPr>
      </p:sp>
      <p:sp>
        <p:nvSpPr>
          <p:cNvPr id="7" name="Text 5"/>
          <p:cNvSpPr/>
          <p:nvPr/>
        </p:nvSpPr>
        <p:spPr>
          <a:xfrm>
            <a:off x="1051084" y="331077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具身智能开发者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801189"/>
            <a:ext cx="589335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主要用户群体。专注机器人应用开发、AI 模型集成与计算机视觉应用构建。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373035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9027" y="2403515"/>
            <a:ext cx="6347103" cy="680442"/>
          </a:xfrm>
          <a:prstGeom prst="rect">
            <a:avLst/>
          </a:prstGeom>
          <a:solidFill>
            <a:srgbClr val="3F4652"/>
          </a:solidFill>
        </p:spPr>
      </p:sp>
      <p:sp>
        <p:nvSpPr>
          <p:cNvPr id="11" name="Text 9"/>
          <p:cNvSpPr/>
          <p:nvPr/>
        </p:nvSpPr>
        <p:spPr>
          <a:xfrm>
            <a:off x="7685842" y="331077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研究员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801189"/>
            <a:ext cx="589347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快速原型验证、模型组合实验、数据流结构优化，加速研究迭代周期。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11103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270" y="5041583"/>
            <a:ext cx="6346984" cy="680442"/>
          </a:xfrm>
          <a:prstGeom prst="rect">
            <a:avLst/>
          </a:prstGeom>
          <a:solidFill>
            <a:srgbClr val="3F4652"/>
          </a:solidFill>
        </p:spPr>
      </p:sp>
      <p:sp>
        <p:nvSpPr>
          <p:cNvPr id="15" name="Text 13"/>
          <p:cNvSpPr/>
          <p:nvPr/>
        </p:nvSpPr>
        <p:spPr>
          <a:xfrm>
            <a:off x="1051084" y="594883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技术学习者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084" y="6439257"/>
            <a:ext cx="589335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通过可视化编程入门 DORA 框架，了解具身智能架构，降低学习门槛。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011103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9027" y="5041583"/>
            <a:ext cx="6347103" cy="680442"/>
          </a:xfrm>
          <a:prstGeom prst="rect">
            <a:avLst/>
          </a:prstGeom>
          <a:solidFill>
            <a:srgbClr val="3F4652"/>
          </a:solidFill>
        </p:spPr>
      </p:sp>
      <p:sp>
        <p:nvSpPr>
          <p:cNvPr id="19" name="Text 17"/>
          <p:cNvSpPr/>
          <p:nvPr/>
        </p:nvSpPr>
        <p:spPr>
          <a:xfrm>
            <a:off x="7685842" y="594883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工业软件开发商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85842" y="6439257"/>
            <a:ext cx="589347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需要高性能、高稳定性解决方案，7×24 无故障运行，追求极致性能与零配置部署。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2476500"/>
            <a:ext cx="3276600" cy="3276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6743" y="957382"/>
            <a:ext cx="6101715" cy="10834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准备好加速你的具身智能开发了吗？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606743" y="2239566"/>
            <a:ext cx="6101715" cy="489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DoraMate 正在面向早期开发者开放内测。加入我们，成为改变具身智能开发方式的先行者。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606743" y="2877979"/>
            <a:ext cx="6101715" cy="3374588"/>
          </a:xfrm>
          <a:prstGeom prst="roundRect">
            <a:avLst>
              <a:gd name="adj" fmla="val 771"/>
            </a:avLst>
          </a:prstGeom>
          <a:solidFill>
            <a:srgbClr val="3F4652"/>
          </a:solidFill>
        </p:spPr>
      </p:sp>
      <p:sp>
        <p:nvSpPr>
          <p:cNvPr id="7" name="Shape 3"/>
          <p:cNvSpPr/>
          <p:nvPr/>
        </p:nvSpPr>
        <p:spPr>
          <a:xfrm>
            <a:off x="606743" y="2877979"/>
            <a:ext cx="6101715" cy="1058585"/>
          </a:xfrm>
          <a:prstGeom prst="roundRect">
            <a:avLst>
              <a:gd name="adj" fmla="val 2457"/>
            </a:avLst>
          </a:prstGeom>
          <a:solidFill>
            <a:srgbClr val="3F4652"/>
          </a:solidFill>
        </p:spPr>
      </p:sp>
      <p:sp>
        <p:nvSpPr>
          <p:cNvPr id="8" name="Text 4"/>
          <p:cNvSpPr/>
          <p:nvPr/>
        </p:nvSpPr>
        <p:spPr>
          <a:xfrm>
            <a:off x="739140" y="3010376"/>
            <a:ext cx="2167057" cy="2708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阅读文档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39140" y="3360658"/>
            <a:ext cx="5836920" cy="244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深入了解 DORA 架构与 DoraMate 实现细节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06743" y="3936563"/>
            <a:ext cx="6101715" cy="1257419"/>
          </a:xfrm>
          <a:prstGeom prst="rect">
            <a:avLst/>
          </a:prstGeom>
          <a:solidFill>
            <a:srgbClr val="3F4652"/>
          </a:solidFill>
        </p:spPr>
      </p:sp>
      <p:sp>
        <p:nvSpPr>
          <p:cNvPr id="11" name="Shape 7"/>
          <p:cNvSpPr/>
          <p:nvPr/>
        </p:nvSpPr>
        <p:spPr>
          <a:xfrm>
            <a:off x="606743" y="3936563"/>
            <a:ext cx="6101715" cy="22860"/>
          </a:xfrm>
          <a:prstGeom prst="roundRect">
            <a:avLst>
              <a:gd name="adj" fmla="val 113761"/>
            </a:avLst>
          </a:prstGeom>
          <a:solidFill>
            <a:srgbClr val="585F6B"/>
          </a:solidFill>
        </p:spPr>
      </p:sp>
      <p:sp>
        <p:nvSpPr>
          <p:cNvPr id="12" name="Shape 8"/>
          <p:cNvSpPr/>
          <p:nvPr/>
        </p:nvSpPr>
        <p:spPr>
          <a:xfrm>
            <a:off x="3440787" y="3731300"/>
            <a:ext cx="433388" cy="433388"/>
          </a:xfrm>
          <a:prstGeom prst="roundRect">
            <a:avLst>
              <a:gd name="adj" fmla="val 6001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9134" y="3839528"/>
            <a:ext cx="216694" cy="2166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9140" y="4267795"/>
            <a:ext cx="2167057" cy="2708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查看 MVP 计划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39140" y="4618077"/>
            <a:ext cx="5836920" cy="244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跟进开发进度，参与功能讨论与早期测试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06743" y="5193983"/>
            <a:ext cx="6101715" cy="1058585"/>
          </a:xfrm>
          <a:prstGeom prst="rect">
            <a:avLst/>
          </a:prstGeom>
          <a:solidFill>
            <a:srgbClr val="3F4652"/>
          </a:solidFill>
        </p:spPr>
      </p:sp>
      <p:sp>
        <p:nvSpPr>
          <p:cNvPr id="17" name="Shape 12"/>
          <p:cNvSpPr/>
          <p:nvPr/>
        </p:nvSpPr>
        <p:spPr>
          <a:xfrm>
            <a:off x="606743" y="5193983"/>
            <a:ext cx="6101715" cy="22860"/>
          </a:xfrm>
          <a:prstGeom prst="roundRect">
            <a:avLst>
              <a:gd name="adj" fmla="val 113761"/>
            </a:avLst>
          </a:prstGeom>
          <a:solidFill>
            <a:srgbClr val="585F6B"/>
          </a:solidFill>
        </p:spPr>
      </p:sp>
      <p:sp>
        <p:nvSpPr>
          <p:cNvPr id="18" name="Shape 13"/>
          <p:cNvSpPr/>
          <p:nvPr/>
        </p:nvSpPr>
        <p:spPr>
          <a:xfrm>
            <a:off x="3440787" y="4988719"/>
            <a:ext cx="433388" cy="433388"/>
          </a:xfrm>
          <a:prstGeom prst="roundRect">
            <a:avLst>
              <a:gd name="adj" fmla="val 6001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9134" y="5096947"/>
            <a:ext cx="216694" cy="216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9140" y="5525214"/>
            <a:ext cx="2167057" cy="2708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加入社区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739140" y="5875496"/>
            <a:ext cx="5836920" cy="244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成为 50+ 种子用户之一，共建具身智能开发者生态</a:t>
            </a:r>
            <a:endParaRPr lang="en-US" sz="1350" dirty="0"/>
          </a:p>
        </p:txBody>
      </p:sp>
      <p:pic>
        <p:nvPicPr>
          <p:cNvPr id="22" name="Image 4" descr="preencoded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743" y="6401633"/>
            <a:ext cx="1386840" cy="47672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6743" y="7027426"/>
            <a:ext cx="6101715" cy="244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u="sng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查看 GitHub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1876</Words>
  <Application>WPS 演示</Application>
  <PresentationFormat>On-screen Show (16:9)</PresentationFormat>
  <Paragraphs>194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Roboto Slab</vt:lpstr>
      <vt:lpstr>Roboto Slab</vt:lpstr>
      <vt:lpstr>Roboto Slab</vt:lpstr>
      <vt:lpstr>Roboto</vt:lpstr>
      <vt:lpstr>Roboto</vt:lpstr>
      <vt:lpstr>Roboto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冯小婷</cp:lastModifiedBy>
  <cp:revision>2</cp:revision>
  <dcterms:created xsi:type="dcterms:W3CDTF">2026-03-16T05:02:00Z</dcterms:created>
  <dcterms:modified xsi:type="dcterms:W3CDTF">2026-03-16T05:13:58Z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251EDAB46FC94B5FBD52DC959205D990_13</vt:lpwstr>
  </property>
  <property fmtid="{D5CDD505-2E9C-101B-9397-08002B2CF9AE}" pid="3" name="KSOProductBuildVer">
    <vt:lpwstr>2052-12.1.0.25225</vt:lpwstr>
  </property>
</Properties>
</file>